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Construire un pipeline complet de Machine Learning</a:t>
            </a:r>
          </a:p>
          <a:p>
            <a:pPr>
              <a:defRPr sz="2300">
                <a:solidFill>
                  <a:srgbClr val="BED7EB"/>
                </a:solidFill>
              </a:defRPr>
            </a:pPr>
            <a:r>
              <a:t>De la donnée brute à l’évaluation finale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416052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Formation Machine Learning • Séance pratique de 2 heures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Comprendre les étapes et les dépendances d’un projet ML.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Construire une séparation train / test sans fuite de données.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Assembler prétraitements et modèles avec scikit-learn Pipeline.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Comparer des modèles par validation croisée et choisir une métrique pertinente.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Évaluer une seule fois le modèle retenu sur le jeu de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 pipeline de bout en 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1. Définir le problème et la variable cible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2. Collecter les données et vérifier leur qualité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3. Explorer les données (EDA)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4. Séparer train et test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5. Prétraiter les variables dans un pipeline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6. Entraîner et comparer les modèles sur train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7. Sélectionner les hyperparamètres par validation croisée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8. Évaluer le modèle final sur test et communiquer les limites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Le pipeline est itératif : l’EDA peut conduire à revoir les données ou la formulation du problème.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Avant de modéliser : définir 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Unité d’observation : que représente une ligne ?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Cible y : quelle quantité ou classe veut-on prédire ?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Variables X : quelles informations sont disponibles au moment de la prédiction ?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Type de tâche : régression, classification binaire ou multiclasse ?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Critère de succès : quelle erreur est réellement coûteuse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Collecte et contrôle qualité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Documenter la source, la licence, la période et les biais possibles.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Vérifier dimensions, types, doublons, valeurs manquantes et valeurs impossibles.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Contrôler les classes rares et les éventuelles observations dépendantes.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Ne pas supprimer automatiquement les lignes ou les valeurs atypiques : comprendre leur origine.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La qualité de la cible et la représentativité des données limitent la performance possible.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EDA : explorer pour décider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Univarié : distributions, fréquences, valeurs extrêmes et taux de valeurs manquantes.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Bivarié : relation entre chaque variable et la cible.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Déséquilibre des classes : comparer accuracy, recall, precision et F1.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Redondance et corrélations : indices utiles, pas preuve de causalité.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Pour éviter les décisions influencées par le test, réaliser l’EDA décisionnelle sur le train.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 séparation train /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Train : apprentissage des paramètres du modèle et ajustement des transformations.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Validation croisée : comparaison des modèles et réglage des hyperparamètres.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Test : estimation finale, après les décisions de sélection.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Classification : stratify=y si cela est adapté ; séries temporelles : séparation chronologique.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Si des individus ou groupes se répètent, utiliser une séparation par groupe.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Le test ne doit pas guider les choix successifs : sinon, il devient indirectement un jeu de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Prétraiter sans fuite de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Imputation : apprendre la médiane / modalité sur les données d’entraînement seulement.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Encodage : transformer les catégories en variables numériques.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Standardisation : utile pour la régression logistique ; généralement inutile pour les arbres.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ColumnTransformer : appliquer des transformations différentes aux variables numériques et catégorielles.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Pipeline : ajuster transformations et modèle ensemble à chaque pli de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Comparer les modèles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Baseline : DummyClassifier — point de comparaison minimal.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Régression logistique : modèle linéaire, rapide et interprétable.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Arbre de décision : règles non linéaires, mais risque de surapprentissage.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Forêt aléatoire : agrégation de nombreux arbres, souvent plus robuste.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Comparer avec la même séparation, la même métrique et les mêmes plis de validation.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Validation croisée et hyperparamètres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La validation croisée estime la variabilité des performances sur plusieurs partitions.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GridSearchCV / RandomizedSearchCV sélectionne les hyperparamètres sur train.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Exemples : C pour la régression logistique ; max_depth et min_samples_leaf pour un arbre.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Choisir la métrique avant d’observer les résultats.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Le meilleur score moyen ne dispense pas d’examiner l’écart-type et la complexité.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Évaluer : au-delà de l’accuracy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Accuracy : proportion totale de prédictions correctes.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Precision : parmi les prédictions positives, quelle proportion est correcte ?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Recall : parmi les positifs réels, quelle proportion est retrouvée ?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F1 : moyenne harmonique de precision et recall.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Matrice de confusion : nature et volume des erreurs.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Le choix dépend du coût des faux positifs et des faux négatifs.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Évaluation finale et interprétation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Réentraîner le pipeline sélectionné sur tout le train disponible.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Évaluer une seule fois sur le test tenu à l’écart.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Comparer au baseline et vérifier les métriques pertinentes.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Analyser les erreurs, les sous-groupes et les limites de généralisation.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Une bonne performance ne prouve ni causalité, ni équité, ni validité en production.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Erreurs méthodologiques à éviter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Imputer ou standardiser avant la séparation train / test.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Choisir les modèles en fonction du score test.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Utiliser une métrique qui ne correspond pas au problème.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Oublier la baseline, les classes déséquilibrées ou les groupes dépendants.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Confondre performance sur un échantillon et performance future.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Travail pratique : classification de survie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Données Titanic : variables numériques et catégorielles, valeurs manquantes.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Objectif : prédire la survie (classification binaire).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Construire une chaîne de prétraitement et de modélisation.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Comparer baseline, régression logistique, arbre et forêt aléatoire.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Interpréter la validation croisée puis le résultat final sur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Le jeu Titanic utilisé dans le notebook est une ressource pédagogique ; ses résultats ne sont pas destinés à une décision réelle.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La performance dépend autant de la méthode d’évaluation que du modèle.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Les transformations doivent être apprises uniquement sur les données d’entraînement.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La validation croisée guide les choix ; le test estime la performance finale.</a:t>
            </a:r>
          </a:p>
          <a:p>
            <a:pPr>
              <a:spcAft>
                <a:spcPts val="1300"/>
              </a:spcAft>
              <a:defRPr sz="2100">
                <a:solidFill>
                  <a:srgbClr val="283038"/>
                </a:solidFill>
              </a:defRPr>
            </a:pPr>
            <a:r>
              <a:t>Le modèle retenu doit être justifié par une métrique et un besoin clairement définis.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